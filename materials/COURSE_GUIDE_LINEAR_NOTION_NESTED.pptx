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45d2de994eb4c51" /><Relationship Type="http://schemas.openxmlformats.org/officeDocument/2006/relationships/extended-properties" Target="/docProps/app.xml" Id="R90a9815f6f9247c1" /><Relationship Type="http://schemas.openxmlformats.org/officeDocument/2006/relationships/officeDocument" Target="/ppt/presentation.xml" Id="R141901b5a89547e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9fd979c3bc04098"/>
  </p:sldMasterIdLst>
  <p:notesMasterIdLst>
    <p:notesMasterId xmlns:r="http://schemas.openxmlformats.org/officeDocument/2006/relationships" r:id="Rabf6e250f75a4a30"/>
  </p:notesMasterIdLst>
  <p:sldIdLst>
    <p:sldId xmlns:r="http://schemas.openxmlformats.org/officeDocument/2006/relationships" id="256" r:id="R01162edc7a454c5f"/>
    <p:sldId xmlns:r="http://schemas.openxmlformats.org/officeDocument/2006/relationships" id="257" r:id="R431cf7198fed497a"/>
    <p:sldId xmlns:r="http://schemas.openxmlformats.org/officeDocument/2006/relationships" id="258" r:id="Rbcbf823120ce4e02"/>
    <p:sldId xmlns:r="http://schemas.openxmlformats.org/officeDocument/2006/relationships" id="259" r:id="R984385a989cb4459"/>
    <p:sldId xmlns:r="http://schemas.openxmlformats.org/officeDocument/2006/relationships" id="260" r:id="R184f0d40686a42e6"/>
    <p:sldId xmlns:r="http://schemas.openxmlformats.org/officeDocument/2006/relationships" id="261" r:id="R6a807ef5ff524296"/>
    <p:sldId xmlns:r="http://schemas.openxmlformats.org/officeDocument/2006/relationships" id="262" r:id="R928701cfd679471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84ce991f6bb4fcf" /><Relationship Type="http://schemas.openxmlformats.org/officeDocument/2006/relationships/slideMaster" Target="/ppt/slideMasters/slideMaster1.xml" Id="Rd9fd979c3bc04098" /><Relationship Type="http://schemas.openxmlformats.org/officeDocument/2006/relationships/notesMaster" Target="/ppt/notesMasters/notesMaster1.xml" Id="Rabf6e250f75a4a30" /><Relationship Type="http://schemas.openxmlformats.org/officeDocument/2006/relationships/presProps" Target="/ppt/presProps.xml" Id="R69cd59b869df465a" /><Relationship Type="http://schemas.openxmlformats.org/officeDocument/2006/relationships/tableStyles" Target="/ppt/tableStyles.xml" Id="R20eb527a6bf94cb2" /><Relationship Type="http://schemas.openxmlformats.org/officeDocument/2006/relationships/slide" Target="/ppt/slides/slide1.xml" Id="R01162edc7a454c5f" /><Relationship Type="http://schemas.openxmlformats.org/officeDocument/2006/relationships/slide" Target="/ppt/slides/slide2.xml" Id="R431cf7198fed497a" /><Relationship Type="http://schemas.openxmlformats.org/officeDocument/2006/relationships/slide" Target="/ppt/slides/slide3.xml" Id="Rbcbf823120ce4e02" /><Relationship Type="http://schemas.openxmlformats.org/officeDocument/2006/relationships/slide" Target="/ppt/slides/slide4.xml" Id="R984385a989cb4459" /><Relationship Type="http://schemas.openxmlformats.org/officeDocument/2006/relationships/slide" Target="/ppt/slides/slide5.xml" Id="R184f0d40686a42e6" /><Relationship Type="http://schemas.openxmlformats.org/officeDocument/2006/relationships/slide" Target="/ppt/slides/slide6.xml" Id="R6a807ef5ff524296" /><Relationship Type="http://schemas.openxmlformats.org/officeDocument/2006/relationships/slide" Target="/ppt/slides/slide7.xml" Id="R928701cfd679471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746fe040fe94a5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699c289487e448a" /><Relationship Type="http://schemas.openxmlformats.org/officeDocument/2006/relationships/notesMaster" Target="/ppt/notesMasters/notesMaster1.xml" Id="R9a40b0ee1bed4bf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e4cbc1478cd41ba" /><Relationship Type="http://schemas.openxmlformats.org/officeDocument/2006/relationships/notesMaster" Target="/ppt/notesMasters/notesMaster1.xml" Id="Re54ebca7b024436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76f96e16492436a" /><Relationship Type="http://schemas.openxmlformats.org/officeDocument/2006/relationships/notesMaster" Target="/ppt/notesMasters/notesMaster1.xml" Id="Rbbfdcf60c0e44af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fbf772b750f4ed8" /><Relationship Type="http://schemas.openxmlformats.org/officeDocument/2006/relationships/notesMaster" Target="/ppt/notesMasters/notesMaster1.xml" Id="R0e078c1ed7a74e5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c67577f52fa4e51" /><Relationship Type="http://schemas.openxmlformats.org/officeDocument/2006/relationships/notesMaster" Target="/ppt/notesMasters/notesMaster1.xml" Id="R1532fb0f8d6a4fd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35c3e884d33468e" /><Relationship Type="http://schemas.openxmlformats.org/officeDocument/2006/relationships/notesMaster" Target="/ppt/notesMasters/notesMaster1.xml" Id="R737b60939ce0463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be8a34828034fd2" /><Relationship Type="http://schemas.openxmlformats.org/officeDocument/2006/relationships/notesMaster" Target="/ppt/notesMasters/notesMaster1.xml" Id="Re542a76421b04cf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Содержание основано на PLAN.md и CODEX_WORKFLOW.md. Курс проходит по одному маршруту; ученик выбирает тему вместе с Codex и ведёт прогресс в собственном Notion.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Содержание основано на CODEX_WORKFLOW.md. Ученик открывает одну папку курса в Codex. Корневой AGENTS.md направляет работу в папку курса или learner-project/; внутри проекта есть свой AGENTS.md. Каждая область ведёт собственные справочные заметки. Notion хранит единственный прогресс курса.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Содержание основано на PLAN.md и CODEX_WORKFLOW.md. Ученик получает один небольшой шаг; повторные попытки не штрафуются, наставник меняет объяснение или размер задания.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Содержание основано на PLAN.md, этапы 1 и 4. Сначала ученик выбирает тему и утверждает MVP. После этого Codex помогает по одному небольшому срезу.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Названия модулей и их порядок соответствуют PLAN.md. Курс содержит шесть последовательных модулей и восемнадцать этапов. Notion показывает текущий урок и позволяет вернуться к пройденным.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Содержание основано на PLAN.md, этап 11. Ученик сохраняет trace ID, находит контролируемый сбой и проверяет безопасное восстановление без записи чувствительного содержимого в логи.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Финальная проверка соответствует PLAN.md, этап 18. Ученик объясняет проект, связывает требование с проверкой и показывает безопасную работу при контролируемом сбое.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271cf9789a489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fa1acdfdeda4056" /><Relationship Type="http://schemas.openxmlformats.org/officeDocument/2006/relationships/slideLayout" Target="/ppt/slideLayouts/slideLayout1.xml" Id="R15be8408725b4d2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5be8408725b4d2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a030cd1e274a11" /><Relationship Type="http://schemas.openxmlformats.org/officeDocument/2006/relationships/image" Target="/ppt/media/image.png" Id="Rebcc4c34f8bd4e13" /><Relationship Type="http://schemas.openxmlformats.org/officeDocument/2006/relationships/notesSlide" Target="/ppt/notesSlides/notesSlide1.xml" Id="R57fdda118d9e418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fb0c0a836b47cf" /><Relationship Type="http://schemas.openxmlformats.org/officeDocument/2006/relationships/image" Target="/ppt/media/image2.png" Id="R718a19d9c9b346ca" /><Relationship Type="http://schemas.openxmlformats.org/officeDocument/2006/relationships/notesSlide" Target="/ppt/notesSlides/notesSlide2.xml" Id="R8e9819c0ed7b4c9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3f1a5f7a414a3e" /><Relationship Type="http://schemas.openxmlformats.org/officeDocument/2006/relationships/notesSlide" Target="/ppt/notesSlides/notesSlide3.xml" Id="R24dec963afeb4d5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672aa4fed5475b" /><Relationship Type="http://schemas.openxmlformats.org/officeDocument/2006/relationships/notesSlide" Target="/ppt/notesSlides/notesSlide4.xml" Id="R1bee782433c84a8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e599f9d21c4d17" /><Relationship Type="http://schemas.openxmlformats.org/officeDocument/2006/relationships/notesSlide" Target="/ppt/notesSlides/notesSlide5.xml" Id="Re001cda477cb4bb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bde1b2715349a9" /><Relationship Type="http://schemas.openxmlformats.org/officeDocument/2006/relationships/image" Target="/ppt/media/image3.png" Id="R7f593d8aa21644ad" /><Relationship Type="http://schemas.openxmlformats.org/officeDocument/2006/relationships/notesSlide" Target="/ppt/notesSlides/notesSlide6.xml" Id="Rd36627b0ca7647e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301c97706742b7" /><Relationship Type="http://schemas.openxmlformats.org/officeDocument/2006/relationships/notesSlide" Target="/ppt/notesSlides/notesSlide7.xml" Id="Re0b2a629a39342e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C41C9F-1986-4B6F-83D7-91F7C8704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167D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167D83"/>
                </a:solidFill>
                <a:latin typeface="Helvetica Neue"/>
                <a:ea typeface="Helvetica Neue"/>
                <a:cs typeface="Helvetica Neue"/>
              </a:rPr>
              <a:t>ПУТЕВОДИТЕЛЬ ПО КУРСУ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E65849-F2F3-42DE-B212-9F252C2B8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58102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575" b="1" i="0">
                <a:solidFill>
                  <a:srgbClr val="172B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75" b="1" i="0">
                <a:solidFill>
                  <a:srgbClr val="172B43"/>
                </a:solidFill>
                <a:latin typeface="Helvetica Neue"/>
                <a:ea typeface="Helvetica Neue"/>
                <a:cs typeface="Helvetica Neue"/>
              </a:rPr>
              <a:t>Курс по</a:t>
            </a:r>
          </a:p>
          <a:p xmlns:a="http://schemas.openxmlformats.org/drawingml/2006/main">
            <a:pPr algn="l">
              <a:buNone/>
              <a:defRPr sz="4575" b="1" i="0">
                <a:solidFill>
                  <a:srgbClr val="172B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75" b="1" i="0">
                <a:solidFill>
                  <a:srgbClr val="172B43"/>
                </a:solidFill>
                <a:latin typeface="Helvetica Neue"/>
                <a:ea typeface="Helvetica Neue"/>
                <a:cs typeface="Helvetica Neue"/>
              </a:rPr>
              <a:t>AI-автоматизациям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0D377A-F962-4DD5-9EB7-9018E7FA4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0"/>
            <a:ext cx="48101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 i="0">
                <a:solidFill>
                  <a:srgbClr val="2339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 i="0">
                <a:solidFill>
                  <a:srgbClr val="23394F"/>
                </a:solidFill>
                <a:latin typeface="Helvetica Neue"/>
                <a:ea typeface="Helvetica Neue"/>
                <a:cs typeface="Helvetica Neue"/>
              </a:rPr>
              <a:t>Выберем проект вместе и пройдём его по одному уроку в Notion.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610B5A-110F-45D1-A2B5-64F8CA85E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62500"/>
            <a:ext cx="6572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E8736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C3D41D-7A10-4862-9C8D-BB9686C6C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29200"/>
            <a:ext cx="4714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 i="0">
                <a:solidFill>
                  <a:srgbClr val="5268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 i="0">
                <a:solidFill>
                  <a:srgbClr val="52687A"/>
                </a:solidFill>
                <a:latin typeface="Helvetica Neue"/>
                <a:ea typeface="Helvetica Neue"/>
                <a:cs typeface="Helvetica Neue"/>
              </a:rPr>
              <a:t>Можно начать без опыта в коде и даже без готовой идеи.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54A3BD-D6D8-4190-A112-EFBA58F649F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cc4c34f8bd4e13"/>
          <a:stretch xmlns:a="http://schemas.openxmlformats.org/drawingml/2006/main"/>
        </p:blipFill>
        <p:spPr>
          <a:xfrm xmlns:a="http://schemas.openxmlformats.org/drawingml/2006/main">
            <a:off x="5476875" y="1749250"/>
            <a:ext cx="6477000" cy="364524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6058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D55B323-83A8-44A7-AF1A-E9E6FF402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172B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172B43"/>
                </a:solidFill>
                <a:latin typeface="Helvetica Neue"/>
                <a:ea typeface="Helvetica Neue"/>
                <a:cs typeface="Helvetica Neue"/>
              </a:rPr>
              <a:t>Курс и проект в одной папке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27055E8-4E67-4FC0-8155-3F299DF91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 i="0">
                <a:solidFill>
                  <a:srgbClr val="5268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 i="0">
                <a:solidFill>
                  <a:srgbClr val="52687A"/>
                </a:solidFill>
                <a:latin typeface="Helvetica Neue"/>
                <a:ea typeface="Helvetica Neue"/>
                <a:cs typeface="Helvetica Neue"/>
              </a:rPr>
              <a:t>Codex видит обе папки. Notion ведёт по урокам и хранит прогресс.</a:t>
            </a:r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C258CC-3CB6-4E6E-8A9B-B627788C14B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8a19d9c9b346ca"/>
          <a:stretch xmlns:a="http://schemas.openxmlformats.org/drawingml/2006/main"/>
        </p:blipFill>
        <p:spPr>
          <a:xfrm xmlns:a="http://schemas.openxmlformats.org/drawingml/2006/main">
            <a:off x="333375" y="2200030"/>
            <a:ext cx="5619750" cy="316279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9373D4-7B82-4C91-BE2E-58DC6DD37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00250"/>
            <a:ext cx="0" cy="3381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6D2C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E08EF6-44E7-4021-A507-5C587825D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47875"/>
            <a:ext cx="4905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 i="0">
                <a:solidFill>
                  <a:srgbClr val="172B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 i="0">
                <a:solidFill>
                  <a:srgbClr val="172B43"/>
                </a:solidFill>
                <a:latin typeface="Helvetica Neue"/>
                <a:ea typeface="Helvetica Neue"/>
                <a:cs typeface="Helvetica Neue"/>
              </a:rPr>
              <a:t>Материалы курса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F7DA98-7BE4-427E-873F-CC64545C9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571750"/>
            <a:ext cx="4857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 i="0">
                <a:solidFill>
                  <a:srgbClr val="2339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 i="0">
                <a:solidFill>
                  <a:srgbClr val="23394F"/>
                </a:solidFill>
                <a:latin typeface="Helvetica Neue"/>
                <a:ea typeface="Helvetica Neue"/>
                <a:cs typeface="Helvetica Neue"/>
              </a:rPr>
              <a:t>План · методика · шаблоны</a:t>
            </a:r>
          </a:p>
          <a:p xmlns:a="http://schemas.openxmlformats.org/drawingml/2006/main">
            <a:pPr algn="l">
              <a:buNone/>
              <a:defRPr sz="1875" b="0" i="0">
                <a:solidFill>
                  <a:srgbClr val="2339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 i="0">
                <a:solidFill>
                  <a:srgbClr val="23394F"/>
                </a:solidFill>
                <a:latin typeface="Helvetica Neue"/>
                <a:ea typeface="Helvetica Neue"/>
                <a:cs typeface="Helvetica Neue"/>
              </a:rPr>
              <a:t>справочные заметки курса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7E9D81-55E9-48E1-8314-A90CE1E4E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05200"/>
            <a:ext cx="4743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6D2C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6BBDE6-716A-43BC-AE81-4EC102019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52850"/>
            <a:ext cx="4905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 i="0">
                <a:solidFill>
                  <a:srgbClr val="172B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 i="0">
                <a:solidFill>
                  <a:srgbClr val="172B43"/>
                </a:solidFill>
                <a:latin typeface="Helvetica Neue"/>
                <a:ea typeface="Helvetica Neue"/>
                <a:cs typeface="Helvetica Neue"/>
              </a:rPr>
              <a:t>Папка проекта: learner-project/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91D53D-F6AE-45DA-A86A-A3F352466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267200"/>
            <a:ext cx="485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 i="0">
                <a:solidFill>
                  <a:srgbClr val="2339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 i="0">
                <a:solidFill>
                  <a:srgbClr val="23394F"/>
                </a:solidFill>
                <a:latin typeface="Helvetica Neue"/>
                <a:ea typeface="Helvetica Neue"/>
                <a:cs typeface="Helvetica Neue"/>
              </a:rPr>
              <a:t>Описание проекта · требования</a:t>
            </a:r>
          </a:p>
          <a:p xmlns:a="http://schemas.openxmlformats.org/drawingml/2006/main">
            <a:pPr algn="l">
              <a:buNone/>
              <a:defRPr sz="1875" b="0" i="0">
                <a:solidFill>
                  <a:srgbClr val="2339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 i="0">
                <a:solidFill>
                  <a:srgbClr val="23394F"/>
                </a:solidFill>
                <a:latin typeface="Helvetica Neue"/>
                <a:ea typeface="Helvetica Neue"/>
                <a:cs typeface="Helvetica Neue"/>
              </a:rPr>
              <a:t>код · проверки · заметки проекта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4EE674-E45F-4645-A432-553C8849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14350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167D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 i="0">
                <a:solidFill>
                  <a:srgbClr val="167D83"/>
                </a:solidFill>
                <a:latin typeface="Helvetica Neue"/>
                <a:ea typeface="Helvetica Neue"/>
                <a:cs typeface="Helvetica Neue"/>
              </a:rPr>
              <a:t>Codex сам выбирает нужные правила. Прогресс виден в Notion.</a:t>
            </a:r>
          </a:p>
        </p:txBody>
      </p:sp>
    </p:spTree>
    <p:extLst>
      <p:ext uri="{BB962C8B-B14F-4D97-AF65-F5344CB8AC3E}">
        <p14:creationId xmlns:p14="http://schemas.microsoft.com/office/powerpoint/2010/main" val="13315279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A91AB0F-B4C5-41E0-B99B-5731BAEBF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172B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172B43"/>
                </a:solidFill>
                <a:latin typeface="Helvetica Neue"/>
                <a:ea typeface="Helvetica Neue"/>
                <a:cs typeface="Helvetica Neue"/>
              </a:rPr>
              <a:t>Один учебный цикл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BF2D839-B854-4613-A66F-B9B641E47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 i="0">
                <a:solidFill>
                  <a:srgbClr val="5268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 i="0">
                <a:solidFill>
                  <a:srgbClr val="52687A"/>
                </a:solidFill>
                <a:latin typeface="Helvetica Neue"/>
                <a:ea typeface="Helvetica Neue"/>
                <a:cs typeface="Helvetica Neue"/>
              </a:rPr>
              <a:t>Одна цель · одно небольшое действие · понятный результат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469CB4-D6B2-4CFB-B882-024B4DB33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62250"/>
            <a:ext cx="9763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6D2CE"/>
            </a:solidFill>
            <a:prstDash val="solid"/>
          </a:ln>
        </p:spPr>
      </p:sp>
      <p:sp>
        <p:nvSpPr>
          <p:cNvPr id="4" name="step-1">
            <a:extLst xmlns:a="http://schemas.openxmlformats.org/drawingml/2006/main">
              <a:ext uri="{FF2B5EF4-FFF2-40B4-BE49-F238E27FC236}">
                <a16:creationId xmlns:a16="http://schemas.microsoft.com/office/drawing/2014/main" id="{B7DD190C-F475-4283-B5B4-1EEFC8B9D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390775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B43"/>
          </a:solidFill>
          <a:ln xmlns:a="http://schemas.openxmlformats.org/drawingml/2006/main" w="19050">
            <a:solidFill>
              <a:srgbClr val="172B43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CECCF1-535D-478D-BBF5-0ECE2F2F6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305175"/>
            <a:ext cx="17526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2339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23394F"/>
                </a:solidFill>
                <a:latin typeface="Helvetica Neue"/>
                <a:ea typeface="Helvetica Neue"/>
                <a:cs typeface="Helvetica Neue"/>
              </a:rPr>
              <a:t>Вспомнить</a:t>
            </a:r>
          </a:p>
          <a:p xmlns:a="http://schemas.openxmlformats.org/drawingml/2006/main">
            <a:pPr algn="ctr">
              <a:buNone/>
              <a:defRPr sz="1875" b="1" i="0">
                <a:solidFill>
                  <a:srgbClr val="2339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23394F"/>
                </a:solidFill>
                <a:latin typeface="Helvetica Neue"/>
                <a:ea typeface="Helvetica Neue"/>
                <a:cs typeface="Helvetica Neue"/>
              </a:rPr>
              <a:t>прошлую тему</a:t>
            </a:r>
          </a:p>
        </p:txBody>
      </p:sp>
      <p:sp>
        <p:nvSpPr>
          <p:cNvPr id="6" name="step-2">
            <a:extLst xmlns:a="http://schemas.openxmlformats.org/drawingml/2006/main">
              <a:ext uri="{FF2B5EF4-FFF2-40B4-BE49-F238E27FC236}">
                <a16:creationId xmlns:a16="http://schemas.microsoft.com/office/drawing/2014/main" id="{357E9D8B-C9D3-409D-894B-46B67A799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390775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D83"/>
          </a:solidFill>
          <a:ln xmlns:a="http://schemas.openxmlformats.org/drawingml/2006/main" w="19050">
            <a:solidFill>
              <a:srgbClr val="167D83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8629E6-9ABA-4615-A0E7-BFAFD1E6C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3305175"/>
            <a:ext cx="17526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2339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23394F"/>
                </a:solidFill>
                <a:latin typeface="Helvetica Neue"/>
                <a:ea typeface="Helvetica Neue"/>
                <a:cs typeface="Helvetica Neue"/>
              </a:rPr>
              <a:t>Разобрать</a:t>
            </a:r>
          </a:p>
          <a:p xmlns:a="http://schemas.openxmlformats.org/drawingml/2006/main">
            <a:pPr algn="ctr">
              <a:buNone/>
              <a:defRPr sz="1875" b="1" i="0">
                <a:solidFill>
                  <a:srgbClr val="2339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23394F"/>
                </a:solidFill>
                <a:latin typeface="Helvetica Neue"/>
                <a:ea typeface="Helvetica Neue"/>
                <a:cs typeface="Helvetica Neue"/>
              </a:rPr>
              <a:t>одно понятие</a:t>
            </a:r>
          </a:p>
        </p:txBody>
      </p:sp>
      <p:sp>
        <p:nvSpPr>
          <p:cNvPr id="8" name="step-3">
            <a:extLst xmlns:a="http://schemas.openxmlformats.org/drawingml/2006/main">
              <a:ext uri="{FF2B5EF4-FFF2-40B4-BE49-F238E27FC236}">
                <a16:creationId xmlns:a16="http://schemas.microsoft.com/office/drawing/2014/main" id="{50D2EC2D-396B-48BD-9847-FC7D8B73D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390775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362"/>
          </a:solidFill>
          <a:ln xmlns:a="http://schemas.openxmlformats.org/drawingml/2006/main" w="19050">
            <a:solidFill>
              <a:srgbClr val="E87362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FC7530-1202-42AA-A775-8F1DA828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305175"/>
            <a:ext cx="17526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2339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23394F"/>
                </a:solidFill>
                <a:latin typeface="Helvetica Neue"/>
                <a:ea typeface="Helvetica Neue"/>
                <a:cs typeface="Helvetica Neue"/>
              </a:rPr>
              <a:t>Попробовать</a:t>
            </a:r>
          </a:p>
          <a:p xmlns:a="http://schemas.openxmlformats.org/drawingml/2006/main">
            <a:pPr algn="ctr">
              <a:buNone/>
              <a:defRPr sz="1875" b="1" i="0">
                <a:solidFill>
                  <a:srgbClr val="2339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23394F"/>
                </a:solidFill>
                <a:latin typeface="Helvetica Neue"/>
                <a:ea typeface="Helvetica Neue"/>
                <a:cs typeface="Helvetica Neue"/>
              </a:rPr>
              <a:t>вместе</a:t>
            </a:r>
          </a:p>
        </p:txBody>
      </p:sp>
      <p:sp>
        <p:nvSpPr>
          <p:cNvPr id="10" name="step-4">
            <a:extLst xmlns:a="http://schemas.openxmlformats.org/drawingml/2006/main">
              <a:ext uri="{FF2B5EF4-FFF2-40B4-BE49-F238E27FC236}">
                <a16:creationId xmlns:a16="http://schemas.microsoft.com/office/drawing/2014/main" id="{9DB36565-F11D-4314-8ABB-87A6DB76C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90775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B43"/>
          </a:solidFill>
          <a:ln xmlns:a="http://schemas.openxmlformats.org/drawingml/2006/main" w="19050">
            <a:solidFill>
              <a:srgbClr val="172B43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C90D98-73D0-4A46-BD85-4416B11AB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305175"/>
            <a:ext cx="17526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2339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23394F"/>
                </a:solidFill>
                <a:latin typeface="Helvetica Neue"/>
                <a:ea typeface="Helvetica Neue"/>
                <a:cs typeface="Helvetica Neue"/>
              </a:rPr>
              <a:t>Сделать</a:t>
            </a:r>
          </a:p>
          <a:p xmlns:a="http://schemas.openxmlformats.org/drawingml/2006/main">
            <a:pPr algn="ctr">
              <a:buNone/>
              <a:defRPr sz="1875" b="1" i="0">
                <a:solidFill>
                  <a:srgbClr val="2339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23394F"/>
                </a:solidFill>
                <a:latin typeface="Helvetica Neue"/>
                <a:ea typeface="Helvetica Neue"/>
                <a:cs typeface="Helvetica Neue"/>
              </a:rPr>
              <a:t>самому</a:t>
            </a:r>
          </a:p>
        </p:txBody>
      </p:sp>
      <p:sp>
        <p:nvSpPr>
          <p:cNvPr id="12" name="step-5">
            <a:extLst xmlns:a="http://schemas.openxmlformats.org/drawingml/2006/main">
              <a:ext uri="{FF2B5EF4-FFF2-40B4-BE49-F238E27FC236}">
                <a16:creationId xmlns:a16="http://schemas.microsoft.com/office/drawing/2014/main" id="{3D72F2E6-E4F1-44F6-8C01-96F354908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390775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D83"/>
          </a:solidFill>
          <a:ln xmlns:a="http://schemas.openxmlformats.org/drawingml/2006/main" w="19050">
            <a:solidFill>
              <a:srgbClr val="167D83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106B80-E2B3-47CC-9A57-57F41C681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305175"/>
            <a:ext cx="17526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2339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23394F"/>
                </a:solidFill>
                <a:latin typeface="Helvetica Neue"/>
                <a:ea typeface="Helvetica Neue"/>
                <a:cs typeface="Helvetica Neue"/>
              </a:rPr>
              <a:t>Проверить</a:t>
            </a:r>
          </a:p>
          <a:p xmlns:a="http://schemas.openxmlformats.org/drawingml/2006/main">
            <a:pPr algn="ctr">
              <a:buNone/>
              <a:defRPr sz="1875" b="1" i="0">
                <a:solidFill>
                  <a:srgbClr val="2339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23394F"/>
                </a:solidFill>
                <a:latin typeface="Helvetica Neue"/>
                <a:ea typeface="Helvetica Neue"/>
                <a:cs typeface="Helvetica Neue"/>
              </a:rPr>
              <a:t>2–4 критерия</a:t>
            </a:r>
          </a:p>
        </p:txBody>
      </p:sp>
      <p:sp>
        <p:nvSpPr>
          <p:cNvPr id="14" name="step-6">
            <a:extLst xmlns:a="http://schemas.openxmlformats.org/drawingml/2006/main">
              <a:ext uri="{FF2B5EF4-FFF2-40B4-BE49-F238E27FC236}">
                <a16:creationId xmlns:a16="http://schemas.microsoft.com/office/drawing/2014/main" id="{A39F01A9-9E29-4C96-BDAA-BF7F22A73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390775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362"/>
          </a:solidFill>
          <a:ln xmlns:a="http://schemas.openxmlformats.org/drawingml/2006/main" w="19050">
            <a:solidFill>
              <a:srgbClr val="E87362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904121-B002-401F-BE1E-BBDCAA2F3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3305175"/>
            <a:ext cx="17526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2339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23394F"/>
                </a:solidFill>
                <a:latin typeface="Helvetica Neue"/>
                <a:ea typeface="Helvetica Neue"/>
                <a:cs typeface="Helvetica Neue"/>
              </a:rPr>
              <a:t>Исправить</a:t>
            </a:r>
          </a:p>
          <a:p xmlns:a="http://schemas.openxmlformats.org/drawingml/2006/main">
            <a:pPr algn="ctr">
              <a:buNone/>
              <a:defRPr sz="1875" b="1" i="0">
                <a:solidFill>
                  <a:srgbClr val="2339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23394F"/>
                </a:solidFill>
                <a:latin typeface="Helvetica Neue"/>
                <a:ea typeface="Helvetica Neue"/>
                <a:cs typeface="Helvetica Neue"/>
              </a:rPr>
              <a:t>и проверить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3B12FD-14DA-4D66-8D68-042FE43B1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76750"/>
            <a:ext cx="107727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6D2C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A7236E-DB81-4CD3-816C-80D25EB7B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10744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 i="0">
                <a:solidFill>
                  <a:srgbClr val="2339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 i="0">
                <a:solidFill>
                  <a:srgbClr val="23394F"/>
                </a:solidFill>
                <a:latin typeface="Helvetica Neue"/>
                <a:ea typeface="Helvetica Neue"/>
                <a:cs typeface="Helvetica Neue"/>
              </a:rPr>
              <a:t>Если критерий не выполнен, ты исправляешь работу и повторно показываешь результат. Это обычная часть обучения.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47B307-61D1-43E6-B80F-36C55D5B5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95950"/>
            <a:ext cx="10744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167D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167D83"/>
                </a:solidFill>
                <a:latin typeface="Helvetica Neue"/>
                <a:ea typeface="Helvetica Neue"/>
                <a:cs typeface="Helvetica Neue"/>
              </a:rPr>
              <a:t>Если трудно, наставник объяснит иначе или уменьшит шаг.</a:t>
            </a:r>
          </a:p>
        </p:txBody>
      </p:sp>
    </p:spTree>
    <p:extLst>
      <p:ext uri="{BB962C8B-B14F-4D97-AF65-F5344CB8AC3E}">
        <p14:creationId xmlns:p14="http://schemas.microsoft.com/office/powerpoint/2010/main" val="18085649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77FA636-A38A-4648-8A99-FF67AB549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172B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172B43"/>
                </a:solidFill>
                <a:latin typeface="Helvetica Neue"/>
                <a:ea typeface="Helvetica Neue"/>
                <a:cs typeface="Helvetica Neue"/>
              </a:rPr>
              <a:t>От интереса к проекту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DFC2698-3883-44F5-B3BE-9BBAF5574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 i="0">
                <a:solidFill>
                  <a:srgbClr val="5268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 i="0">
                <a:solidFill>
                  <a:srgbClr val="52687A"/>
                </a:solidFill>
                <a:latin typeface="Helvetica Neue"/>
                <a:ea typeface="Helvetica Neue"/>
                <a:cs typeface="Helvetica Neue"/>
              </a:rPr>
              <a:t>Codex задаёт вопросы по одному и помогает выбрать свою тему.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1F0A58-70FD-4F79-B22C-1FD7DFE70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819400"/>
            <a:ext cx="9410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6D2CE"/>
            </a:solidFill>
            <a:prstDash val="solid"/>
          </a:ln>
        </p:spPr>
      </p:sp>
      <p:sp>
        <p:nvSpPr>
          <p:cNvPr id="4" name="step-1">
            <a:extLst xmlns:a="http://schemas.openxmlformats.org/drawingml/2006/main">
              <a:ext uri="{FF2B5EF4-FFF2-40B4-BE49-F238E27FC236}">
                <a16:creationId xmlns:a16="http://schemas.microsoft.com/office/drawing/2014/main" id="{CDB2286E-42B0-4F8D-9CCB-45E84E598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47925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B43"/>
          </a:solidFill>
          <a:ln xmlns:a="http://schemas.openxmlformats.org/drawingml/2006/main" w="19050">
            <a:solidFill>
              <a:srgbClr val="172B43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47BDB5-1644-4312-BB47-0A95E99DC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390900"/>
            <a:ext cx="2000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 i="0">
                <a:solidFill>
                  <a:srgbClr val="2339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 i="0">
                <a:solidFill>
                  <a:srgbClr val="23394F"/>
                </a:solidFill>
                <a:latin typeface="Helvetica Neue"/>
                <a:ea typeface="Helvetica Neue"/>
                <a:cs typeface="Helvetica Neue"/>
              </a:rPr>
              <a:t>Познакомиться</a:t>
            </a:r>
          </a:p>
          <a:p xmlns:a="http://schemas.openxmlformats.org/drawingml/2006/main">
            <a:pPr algn="ctr">
              <a:buNone/>
              <a:defRPr sz="1875" b="0" i="0">
                <a:solidFill>
                  <a:srgbClr val="2339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 i="0">
                <a:solidFill>
                  <a:srgbClr val="23394F"/>
                </a:solidFill>
                <a:latin typeface="Helvetica Neue"/>
                <a:ea typeface="Helvetica Neue"/>
                <a:cs typeface="Helvetica Neue"/>
              </a:rPr>
              <a:t>и назвать имя</a:t>
            </a:r>
          </a:p>
        </p:txBody>
      </p:sp>
      <p:sp>
        <p:nvSpPr>
          <p:cNvPr id="6" name="step-2">
            <a:extLst xmlns:a="http://schemas.openxmlformats.org/drawingml/2006/main">
              <a:ext uri="{FF2B5EF4-FFF2-40B4-BE49-F238E27FC236}">
                <a16:creationId xmlns:a16="http://schemas.microsoft.com/office/drawing/2014/main" id="{0A5DDCD3-CEFA-44DF-9078-1F14A35CA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4003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362"/>
          </a:solidFill>
          <a:ln xmlns:a="http://schemas.openxmlformats.org/drawingml/2006/main" w="19050">
            <a:solidFill>
              <a:srgbClr val="E87362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25B43E-3ABB-43A9-852A-0F218B6B8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3390900"/>
            <a:ext cx="2000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2339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23394F"/>
                </a:solidFill>
                <a:latin typeface="Helvetica Neue"/>
                <a:ea typeface="Helvetica Neue"/>
                <a:cs typeface="Helvetica Neue"/>
              </a:rPr>
              <a:t>Расскажешь,</a:t>
            </a:r>
          </a:p>
          <a:p xmlns:a="http://schemas.openxmlformats.org/drawingml/2006/main">
            <a:pPr algn="ctr">
              <a:buNone/>
              <a:defRPr sz="1875" b="1" i="0">
                <a:solidFill>
                  <a:srgbClr val="2339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23394F"/>
                </a:solidFill>
                <a:latin typeface="Helvetica Neue"/>
                <a:ea typeface="Helvetica Neue"/>
                <a:cs typeface="Helvetica Neue"/>
              </a:rPr>
              <a:t>что тебе интересно</a:t>
            </a:r>
          </a:p>
        </p:txBody>
      </p:sp>
      <p:sp>
        <p:nvSpPr>
          <p:cNvPr id="8" name="step-3">
            <a:extLst xmlns:a="http://schemas.openxmlformats.org/drawingml/2006/main">
              <a:ext uri="{FF2B5EF4-FFF2-40B4-BE49-F238E27FC236}">
                <a16:creationId xmlns:a16="http://schemas.microsoft.com/office/drawing/2014/main" id="{DBCCEDF9-4D84-426B-9926-88E2644E6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447925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B43"/>
          </a:solidFill>
          <a:ln xmlns:a="http://schemas.openxmlformats.org/drawingml/2006/main" w="19050">
            <a:solidFill>
              <a:srgbClr val="172B43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60CF1E-6C9F-4EEC-AF27-139F9BA44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390900"/>
            <a:ext cx="2000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 i="0">
                <a:solidFill>
                  <a:srgbClr val="2339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 i="0">
                <a:solidFill>
                  <a:srgbClr val="23394F"/>
                </a:solidFill>
                <a:latin typeface="Helvetica Neue"/>
                <a:ea typeface="Helvetica Neue"/>
                <a:cs typeface="Helvetica Neue"/>
              </a:rPr>
              <a:t>Найти задачу,</a:t>
            </a:r>
          </a:p>
          <a:p xmlns:a="http://schemas.openxmlformats.org/drawingml/2006/main">
            <a:pPr algn="ctr">
              <a:buNone/>
              <a:defRPr sz="1875" b="0" i="0">
                <a:solidFill>
                  <a:srgbClr val="2339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 i="0">
                <a:solidFill>
                  <a:srgbClr val="23394F"/>
                </a:solidFill>
                <a:latin typeface="Helvetica Neue"/>
                <a:ea typeface="Helvetica Neue"/>
                <a:cs typeface="Helvetica Neue"/>
              </a:rPr>
              <a:t>которая повторяется</a:t>
            </a:r>
          </a:p>
        </p:txBody>
      </p:sp>
      <p:sp>
        <p:nvSpPr>
          <p:cNvPr id="10" name="step-4">
            <a:extLst xmlns:a="http://schemas.openxmlformats.org/drawingml/2006/main">
              <a:ext uri="{FF2B5EF4-FFF2-40B4-BE49-F238E27FC236}">
                <a16:creationId xmlns:a16="http://schemas.microsoft.com/office/drawing/2014/main" id="{9043155E-4386-4EE6-AC4A-2EC6DB1CE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447925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D83"/>
          </a:solidFill>
          <a:ln xmlns:a="http://schemas.openxmlformats.org/drawingml/2006/main" w="19050">
            <a:solidFill>
              <a:srgbClr val="167D83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A84FF4-2C0A-438D-B720-F9F7997B8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3390900"/>
            <a:ext cx="2000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 i="0">
                <a:solidFill>
                  <a:srgbClr val="2339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 i="0">
                <a:solidFill>
                  <a:srgbClr val="23394F"/>
                </a:solidFill>
                <a:latin typeface="Helvetica Neue"/>
                <a:ea typeface="Helvetica Neue"/>
                <a:cs typeface="Helvetica Neue"/>
              </a:rPr>
              <a:t>Выбрать</a:t>
            </a:r>
          </a:p>
          <a:p xmlns:a="http://schemas.openxmlformats.org/drawingml/2006/main">
            <a:pPr algn="ctr">
              <a:buNone/>
              <a:defRPr sz="1875" b="0" i="0">
                <a:solidFill>
                  <a:srgbClr val="2339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 i="0">
                <a:solidFill>
                  <a:srgbClr val="23394F"/>
                </a:solidFill>
                <a:latin typeface="Helvetica Neue"/>
                <a:ea typeface="Helvetica Neue"/>
                <a:cs typeface="Helvetica Neue"/>
              </a:rPr>
              <a:t>один вариант</a:t>
            </a:r>
          </a:p>
        </p:txBody>
      </p:sp>
      <p:sp>
        <p:nvSpPr>
          <p:cNvPr id="12" name="step-5">
            <a:extLst xmlns:a="http://schemas.openxmlformats.org/drawingml/2006/main">
              <a:ext uri="{FF2B5EF4-FFF2-40B4-BE49-F238E27FC236}">
                <a16:creationId xmlns:a16="http://schemas.microsoft.com/office/drawing/2014/main" id="{26215647-C002-459A-BA49-EE2D4668C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447925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B43"/>
          </a:solidFill>
          <a:ln xmlns:a="http://schemas.openxmlformats.org/drawingml/2006/main" w="19050">
            <a:solidFill>
              <a:srgbClr val="172B43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E738D4-A54A-4981-94F2-517ADF996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390900"/>
            <a:ext cx="2000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 i="0">
                <a:solidFill>
                  <a:srgbClr val="2339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 i="0">
                <a:solidFill>
                  <a:srgbClr val="23394F"/>
                </a:solidFill>
                <a:latin typeface="Helvetica Neue"/>
                <a:ea typeface="Helvetica Neue"/>
                <a:cs typeface="Helvetica Neue"/>
              </a:rPr>
              <a:t>Описать идею</a:t>
            </a:r>
          </a:p>
          <a:p xmlns:a="http://schemas.openxmlformats.org/drawingml/2006/main">
            <a:pPr algn="ctr">
              <a:buNone/>
              <a:defRPr sz="1875" b="0" i="0">
                <a:solidFill>
                  <a:srgbClr val="2339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 i="0">
                <a:solidFill>
                  <a:srgbClr val="23394F"/>
                </a:solidFill>
                <a:latin typeface="Helvetica Neue"/>
                <a:ea typeface="Helvetica Neue"/>
                <a:cs typeface="Helvetica Neue"/>
              </a:rPr>
              <a:t>в brief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90CCD3-FCCA-475C-8BDD-03B6569B3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943100"/>
            <a:ext cx="3286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E8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E87362"/>
                </a:solidFill>
                <a:latin typeface="Helvetica Neue"/>
                <a:ea typeface="Helvetica Neue"/>
                <a:cs typeface="Helvetica Neue"/>
              </a:rPr>
              <a:t>Вопросы по одному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F09510-4C34-426C-B7AB-D9AE91F03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295525"/>
            <a:ext cx="0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8736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548E7E-153F-43E1-95B9-11B7CD424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52950"/>
            <a:ext cx="1078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6D2C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0B2798-6D23-4E7F-BC22-D7A85FE67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38700"/>
            <a:ext cx="10744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 i="0">
                <a:solidFill>
                  <a:srgbClr val="2339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 i="0">
                <a:solidFill>
                  <a:srgbClr val="23394F"/>
                </a:solidFill>
                <a:latin typeface="Helvetica Neue"/>
                <a:ea typeface="Helvetica Neue"/>
                <a:cs typeface="Helvetica Neue"/>
              </a:rPr>
              <a:t>Если идеи пока нет, Codex предложит до пяти вариантов на основе твоих ответов.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15488A-5A9C-4EC6-A453-CBA9BA7B4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34050"/>
            <a:ext cx="10744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167D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167D83"/>
                </a:solidFill>
                <a:latin typeface="Helvetica Neue"/>
                <a:ea typeface="Helvetica Neue"/>
                <a:cs typeface="Helvetica Neue"/>
              </a:rPr>
              <a:t>Первый результат — короткий brief. Код появится после утверждения MVP.</a:t>
            </a:r>
          </a:p>
        </p:txBody>
      </p:sp>
    </p:spTree>
    <p:extLst>
      <p:ext uri="{BB962C8B-B14F-4D97-AF65-F5344CB8AC3E}">
        <p14:creationId xmlns:p14="http://schemas.microsoft.com/office/powerpoint/2010/main" val="155673521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EFC9DAB-27BB-428F-A31B-496AC3EE7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172B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172B43"/>
                </a:solidFill>
                <a:latin typeface="Helvetica Neue"/>
                <a:ea typeface="Helvetica Neue"/>
                <a:cs typeface="Helvetica Neue"/>
              </a:rPr>
              <a:t>Маршрут курса: 6 модулей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2B0C3DA-68FD-4C40-8273-032AF7771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 i="0">
                <a:solidFill>
                  <a:srgbClr val="5268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 i="0">
                <a:solidFill>
                  <a:srgbClr val="52687A"/>
                </a:solidFill>
                <a:latin typeface="Helvetica Neue"/>
                <a:ea typeface="Helvetica Neue"/>
                <a:cs typeface="Helvetica Neue"/>
              </a:rPr>
              <a:t>18 последовательных этапов. На главной странице — один текущий урок.</a:t>
            </a:r>
          </a:p>
        </p:txBody>
      </p:sp>
      <p:sp>
        <p:nvSpPr>
          <p:cNvPr id="3" name="step-1">
            <a:extLst xmlns:a="http://schemas.openxmlformats.org/drawingml/2006/main">
              <a:ext uri="{FF2B5EF4-FFF2-40B4-BE49-F238E27FC236}">
                <a16:creationId xmlns:a16="http://schemas.microsoft.com/office/drawing/2014/main" id="{18FC6B68-B560-4679-AD64-2B71C3CEF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B43"/>
          </a:solidFill>
          <a:ln xmlns:a="http://schemas.openxmlformats.org/drawingml/2006/main" w="19050">
            <a:solidFill>
              <a:srgbClr val="172B43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5C7A29-4111-47B4-A866-AA0ECFCA5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0002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172B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172B43"/>
                </a:solidFill>
                <a:latin typeface="Helvetica Neue"/>
                <a:ea typeface="Helvetica Neue"/>
                <a:cs typeface="Helvetica Neue"/>
              </a:rPr>
              <a:t>Найти подходящую задачу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F9978D-5C58-426B-AAFC-AF5AA4C1B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457450"/>
            <a:ext cx="447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2339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i="0">
                <a:solidFill>
                  <a:srgbClr val="23394F"/>
                </a:solidFill>
                <a:latin typeface="Helvetica Neue"/>
                <a:ea typeface="Helvetica Neue"/>
                <a:cs typeface="Helvetica Neue"/>
              </a:rPr>
              <a:t>Имя, интересы и выбор проекта вместе с Codex.</a:t>
            </a:r>
          </a:p>
        </p:txBody>
      </p:sp>
      <p:sp>
        <p:nvSpPr>
          <p:cNvPr id="6" name="step-2">
            <a:extLst xmlns:a="http://schemas.openxmlformats.org/drawingml/2006/main">
              <a:ext uri="{FF2B5EF4-FFF2-40B4-BE49-F238E27FC236}">
                <a16:creationId xmlns:a16="http://schemas.microsoft.com/office/drawing/2014/main" id="{D39A3138-616C-4685-9300-1E54642A1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147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D83"/>
          </a:solidFill>
          <a:ln xmlns:a="http://schemas.openxmlformats.org/drawingml/2006/main" w="19050">
            <a:solidFill>
              <a:srgbClr val="167D83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CD66DF-AA66-471C-9B6B-DCD7D0728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31470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172B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172B43"/>
                </a:solidFill>
                <a:latin typeface="Helvetica Neue"/>
                <a:ea typeface="Helvetica Neue"/>
                <a:cs typeface="Helvetica Neue"/>
              </a:rPr>
              <a:t>Спроектировать и собрать MVP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CC678B-ADBE-4C2E-A6D0-46E3C15B9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771900"/>
            <a:ext cx="447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2339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i="0">
                <a:solidFill>
                  <a:srgbClr val="23394F"/>
                </a:solidFill>
                <a:latin typeface="Helvetica Neue"/>
                <a:ea typeface="Helvetica Neue"/>
                <a:cs typeface="Helvetica Neue"/>
              </a:rPr>
              <a:t>MVP, backend и работа с данными.</a:t>
            </a:r>
          </a:p>
        </p:txBody>
      </p:sp>
      <p:sp>
        <p:nvSpPr>
          <p:cNvPr id="9" name="step-3">
            <a:extLst xmlns:a="http://schemas.openxmlformats.org/drawingml/2006/main">
              <a:ext uri="{FF2B5EF4-FFF2-40B4-BE49-F238E27FC236}">
                <a16:creationId xmlns:a16="http://schemas.microsoft.com/office/drawing/2014/main" id="{D54CCEE0-1E79-483E-99E7-F09C97393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291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362"/>
          </a:solidFill>
          <a:ln xmlns:a="http://schemas.openxmlformats.org/drawingml/2006/main" w="19050">
            <a:solidFill>
              <a:srgbClr val="E87362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8C9D5E-4232-4595-BE5E-ADEF7DC14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6291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172B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172B43"/>
                </a:solidFill>
                <a:latin typeface="Helvetica Neue"/>
                <a:ea typeface="Helvetica Neue"/>
                <a:cs typeface="Helvetica Neue"/>
              </a:rPr>
              <a:t>Добавить AI там, где он помогает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E264D1-3A70-4097-A0EE-A874EFB68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086350"/>
            <a:ext cx="447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2339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i="0">
                <a:solidFill>
                  <a:srgbClr val="23394F"/>
                </a:solidFill>
                <a:latin typeface="Helvetica Neue"/>
                <a:ea typeface="Helvetica Neue"/>
                <a:cs typeface="Helvetica Neue"/>
              </a:rPr>
              <a:t>LLM, оценка ответов и защитные проверки.</a:t>
            </a:r>
          </a:p>
        </p:txBody>
      </p:sp>
      <p:sp>
        <p:nvSpPr>
          <p:cNvPr id="12" name="step-4">
            <a:extLst xmlns:a="http://schemas.openxmlformats.org/drawingml/2006/main">
              <a:ext uri="{FF2B5EF4-FFF2-40B4-BE49-F238E27FC236}">
                <a16:creationId xmlns:a16="http://schemas.microsoft.com/office/drawing/2014/main" id="{2D42C0E7-9A85-4CA4-8FDB-E2F71D695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002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B43"/>
          </a:solidFill>
          <a:ln xmlns:a="http://schemas.openxmlformats.org/drawingml/2006/main" w="19050">
            <a:solidFill>
              <a:srgbClr val="172B43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599B74-F329-4C75-80E7-259A1C3F8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0002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172B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172B43"/>
                </a:solidFill>
                <a:latin typeface="Helvetica Neue"/>
                <a:ea typeface="Helvetica Neue"/>
                <a:cs typeface="Helvetica Neue"/>
              </a:rPr>
              <a:t>Собрать систему для проверки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AC07D8-F665-42E2-A1CF-D39E05A88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57450"/>
            <a:ext cx="447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2339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i="0">
                <a:solidFill>
                  <a:srgbClr val="23394F"/>
                </a:solidFill>
                <a:latin typeface="Helvetica Neue"/>
                <a:ea typeface="Helvetica Neue"/>
                <a:cs typeface="Helvetica Neue"/>
              </a:rPr>
              <a:t>Интеграции, тесты, логи и восстановление.</a:t>
            </a:r>
          </a:p>
        </p:txBody>
      </p:sp>
      <p:sp>
        <p:nvSpPr>
          <p:cNvPr id="15" name="step-5">
            <a:extLst xmlns:a="http://schemas.openxmlformats.org/drawingml/2006/main">
              <a:ext uri="{FF2B5EF4-FFF2-40B4-BE49-F238E27FC236}">
                <a16:creationId xmlns:a16="http://schemas.microsoft.com/office/drawing/2014/main" id="{74DAEDDB-13FF-404A-8CB6-7EEC541BD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147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D83"/>
          </a:solidFill>
          <a:ln xmlns:a="http://schemas.openxmlformats.org/drawingml/2006/main" w="19050">
            <a:solidFill>
              <a:srgbClr val="167D83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0DDDB6-332F-4560-917F-CE34D8BE2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31470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172B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172B43"/>
                </a:solidFill>
                <a:latin typeface="Helvetica Neue"/>
                <a:ea typeface="Helvetica Neue"/>
                <a:cs typeface="Helvetica Neue"/>
              </a:rPr>
              <a:t>Проверить и передать проект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49A3B0-52C4-4544-889D-200D8AAD9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771900"/>
            <a:ext cx="447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2339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i="0">
                <a:solidFill>
                  <a:srgbClr val="23394F"/>
                </a:solidFill>
                <a:latin typeface="Helvetica Neue"/>
                <a:ea typeface="Helvetica Neue"/>
                <a:cs typeface="Helvetica Neue"/>
              </a:rPr>
              <a:t>UAT, документация и безопасный пилот.</a:t>
            </a:r>
          </a:p>
        </p:txBody>
      </p:sp>
      <p:sp>
        <p:nvSpPr>
          <p:cNvPr id="18" name="step-6">
            <a:extLst xmlns:a="http://schemas.openxmlformats.org/drawingml/2006/main">
              <a:ext uri="{FF2B5EF4-FFF2-40B4-BE49-F238E27FC236}">
                <a16:creationId xmlns:a16="http://schemas.microsoft.com/office/drawing/2014/main" id="{DC6FF55D-4863-49AC-A710-25FF95982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291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362"/>
          </a:solidFill>
          <a:ln xmlns:a="http://schemas.openxmlformats.org/drawingml/2006/main" w="19050">
            <a:solidFill>
              <a:srgbClr val="E87362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3A4369-010C-4FBC-B831-CC1220E05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6291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172B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172B43"/>
                </a:solidFill>
                <a:latin typeface="Helvetica Neue"/>
                <a:ea typeface="Helvetica Neue"/>
                <a:cs typeface="Helvetica Neue"/>
              </a:rPr>
              <a:t>Обсудить решение с клиентом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E3E020-94D0-4C7B-873E-2DC98E09A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086350"/>
            <a:ext cx="447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2339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i="0">
                <a:solidFill>
                  <a:srgbClr val="23394F"/>
                </a:solidFill>
                <a:latin typeface="Helvetica Neue"/>
                <a:ea typeface="Helvetica Neue"/>
                <a:cs typeface="Helvetica Neue"/>
              </a:rPr>
              <a:t>Discovery, объём, предложение и передача.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951841-F998-400C-819E-F353E4A2D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24550"/>
            <a:ext cx="10706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6D2C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0F0B53-9C43-4635-8309-96542EE6A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34100"/>
            <a:ext cx="10744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167D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167D83"/>
                </a:solidFill>
                <a:latin typeface="Helvetica Neue"/>
                <a:ea typeface="Helvetica Neue"/>
                <a:cs typeface="Helvetica Neue"/>
              </a:rPr>
              <a:t>Этап завершён: есть результат, критерии и понятное объяснение.</a:t>
            </a:r>
          </a:p>
        </p:txBody>
      </p:sp>
    </p:spTree>
    <p:extLst>
      <p:ext uri="{BB962C8B-B14F-4D97-AF65-F5344CB8AC3E}">
        <p14:creationId xmlns:p14="http://schemas.microsoft.com/office/powerpoint/2010/main" val="193475725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C6B7F32-1272-496D-9D06-69BD6F9C4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172B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172B43"/>
                </a:solidFill>
                <a:latin typeface="Helvetica Neue"/>
                <a:ea typeface="Helvetica Neue"/>
                <a:cs typeface="Helvetica Neue"/>
              </a:rPr>
              <a:t>Когда система ломается: ищем по логам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C9A1813-40F8-45DB-9C5C-98D773AD8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 i="0">
                <a:solidFill>
                  <a:srgbClr val="5268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 i="0">
                <a:solidFill>
                  <a:srgbClr val="52687A"/>
                </a:solidFill>
                <a:latin typeface="Helvetica Neue"/>
                <a:ea typeface="Helvetica Neue"/>
                <a:cs typeface="Helvetica Neue"/>
              </a:rPr>
              <a:t>Номер запроса связывает события и помогает найти место сбоя.</a:t>
            </a:r>
          </a:p>
        </p:txBody>
      </p:sp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B18E27-F74A-4C15-9D67-2C639B6F2A8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593d8aa21644ad"/>
          <a:stretch xmlns:a="http://schemas.openxmlformats.org/drawingml/2006/main"/>
        </p:blipFill>
        <p:spPr>
          <a:xfrm xmlns:a="http://schemas.openxmlformats.org/drawingml/2006/main">
            <a:off x="361950" y="2100263"/>
            <a:ext cx="6286500" cy="3143250"/>
          </a:xfrm>
          <a:prstGeom xmlns:a="http://schemas.openxmlformats.org/drawingml/2006/main" prst="rect">
            <a:avLst/>
          </a:prstGeom>
        </p:spPr>
      </p:pic>
      <p:sp>
        <p:nvSpPr>
          <p:cNvPr id="4" name="step-1">
            <a:extLst xmlns:a="http://schemas.openxmlformats.org/drawingml/2006/main">
              <a:ext uri="{FF2B5EF4-FFF2-40B4-BE49-F238E27FC236}">
                <a16:creationId xmlns:a16="http://schemas.microsoft.com/office/drawing/2014/main" id="{32641F25-92E9-4F2F-B436-7B6BA502A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9335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B43"/>
          </a:solidFill>
          <a:ln xmlns:a="http://schemas.openxmlformats.org/drawingml/2006/main" w="19050">
            <a:solidFill>
              <a:srgbClr val="172B43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3854A0-171D-4118-A6BB-ECBF6D4E0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71675"/>
            <a:ext cx="3952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2339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 i="0">
                <a:solidFill>
                  <a:srgbClr val="23394F"/>
                </a:solidFill>
                <a:latin typeface="Helvetica Neue"/>
                <a:ea typeface="Helvetica Neue"/>
                <a:cs typeface="Helvetica Neue"/>
              </a:rPr>
              <a:t>Сохранить номер запроса</a:t>
            </a:r>
          </a:p>
        </p:txBody>
      </p:sp>
      <p:sp>
        <p:nvSpPr>
          <p:cNvPr id="6" name="step-2">
            <a:extLst xmlns:a="http://schemas.openxmlformats.org/drawingml/2006/main">
              <a:ext uri="{FF2B5EF4-FFF2-40B4-BE49-F238E27FC236}">
                <a16:creationId xmlns:a16="http://schemas.microsoft.com/office/drawing/2014/main" id="{7BCAA2E0-77CB-4855-8508-E113A4D41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7527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D83"/>
          </a:solidFill>
          <a:ln xmlns:a="http://schemas.openxmlformats.org/drawingml/2006/main" w="19050">
            <a:solidFill>
              <a:srgbClr val="167D83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30B2D5-828B-475C-817E-5C326CE3E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90825"/>
            <a:ext cx="3952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2339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 i="0">
                <a:solidFill>
                  <a:srgbClr val="23394F"/>
                </a:solidFill>
                <a:latin typeface="Helvetica Neue"/>
                <a:ea typeface="Helvetica Neue"/>
                <a:cs typeface="Helvetica Neue"/>
              </a:rPr>
              <a:t>Найти последнее успешное событие</a:t>
            </a:r>
          </a:p>
        </p:txBody>
      </p:sp>
      <p:sp>
        <p:nvSpPr>
          <p:cNvPr id="8" name="step-3">
            <a:extLst xmlns:a="http://schemas.openxmlformats.org/drawingml/2006/main">
              <a:ext uri="{FF2B5EF4-FFF2-40B4-BE49-F238E27FC236}">
                <a16:creationId xmlns:a16="http://schemas.microsoft.com/office/drawing/2014/main" id="{99CE68AE-DE34-4619-B814-257E4F3AC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5718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362"/>
          </a:solidFill>
          <a:ln xmlns:a="http://schemas.openxmlformats.org/drawingml/2006/main" w="19050">
            <a:solidFill>
              <a:srgbClr val="E87362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DC52DE-592D-43A4-BA61-1991D7208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09975"/>
            <a:ext cx="3952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2339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23394F"/>
                </a:solidFill>
                <a:latin typeface="Helvetica Neue"/>
                <a:ea typeface="Helvetica Neue"/>
                <a:cs typeface="Helvetica Neue"/>
              </a:rPr>
              <a:t>Определить первый сбой и компонент</a:t>
            </a:r>
          </a:p>
        </p:txBody>
      </p:sp>
      <p:sp>
        <p:nvSpPr>
          <p:cNvPr id="10" name="step-4">
            <a:extLst xmlns:a="http://schemas.openxmlformats.org/drawingml/2006/main">
              <a:ext uri="{FF2B5EF4-FFF2-40B4-BE49-F238E27FC236}">
                <a16:creationId xmlns:a16="http://schemas.microsoft.com/office/drawing/2014/main" id="{52A5A96D-85A7-4FC8-BA58-A3148841E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391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B43"/>
          </a:solidFill>
          <a:ln xmlns:a="http://schemas.openxmlformats.org/drawingml/2006/main" w="19050">
            <a:solidFill>
              <a:srgbClr val="172B43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4CC339-9D34-43C2-84F1-BBA82CD38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29125"/>
            <a:ext cx="3952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2339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 i="0">
                <a:solidFill>
                  <a:srgbClr val="23394F"/>
                </a:solidFill>
                <a:latin typeface="Helvetica Neue"/>
                <a:ea typeface="Helvetica Neue"/>
                <a:cs typeface="Helvetica Neue"/>
              </a:rPr>
              <a:t>Исправить причину и перепроверить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1B56EA-312E-488A-890C-5CE5E3B4C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62600"/>
            <a:ext cx="107727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6D2C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0BEB45-2FA3-4191-AB6D-F85391905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00725"/>
            <a:ext cx="10744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2339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 i="0">
                <a:solidFill>
                  <a:srgbClr val="23394F"/>
                </a:solidFill>
                <a:latin typeface="Helvetica Neue"/>
                <a:ea typeface="Helvetica Neue"/>
                <a:cs typeface="Helvetica Neue"/>
              </a:rPr>
              <a:t>Проверяем контролируемый сбой, восстановление и безопасный повтор. В логах не должно быть паролей, токенов и личных данных.</a:t>
            </a:r>
          </a:p>
        </p:txBody>
      </p:sp>
    </p:spTree>
    <p:extLst>
      <p:ext uri="{BB962C8B-B14F-4D97-AF65-F5344CB8AC3E}">
        <p14:creationId xmlns:p14="http://schemas.microsoft.com/office/powerpoint/2010/main" val="145801675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5141E71-E71A-4731-859E-A909FA6CE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172B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172B43"/>
                </a:solidFill>
                <a:latin typeface="Helvetica Neue"/>
                <a:ea typeface="Helvetica Neue"/>
                <a:cs typeface="Helvetica Neue"/>
              </a:rPr>
              <a:t>Что ты показываешь в финале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9AA9CCF-850D-43B3-8A14-E96561E74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 i="0">
                <a:solidFill>
                  <a:srgbClr val="5268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 i="0">
                <a:solidFill>
                  <a:srgbClr val="52687A"/>
                </a:solidFill>
                <a:latin typeface="Helvetica Neue"/>
                <a:ea typeface="Helvetica Neue"/>
                <a:cs typeface="Helvetica Neue"/>
              </a:rPr>
              <a:t>Понятный проект и доказательства, что его можно проверить и передать дальше.</a:t>
            </a:r>
          </a:p>
        </p:txBody>
      </p:sp>
      <p:sp>
        <p:nvSpPr>
          <p:cNvPr id="3" name="step-1">
            <a:extLst xmlns:a="http://schemas.openxmlformats.org/drawingml/2006/main">
              <a:ext uri="{FF2B5EF4-FFF2-40B4-BE49-F238E27FC236}">
                <a16:creationId xmlns:a16="http://schemas.microsoft.com/office/drawing/2014/main" id="{BD5ED6CF-6964-428A-A8CD-088A75D39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0383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B43"/>
          </a:solidFill>
          <a:ln xmlns:a="http://schemas.openxmlformats.org/drawingml/2006/main" w="19050">
            <a:solidFill>
              <a:srgbClr val="172B43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73497D-5DAF-4B18-8FB9-686179EB6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076450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 i="0">
                <a:solidFill>
                  <a:srgbClr val="2339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 i="0">
                <a:solidFill>
                  <a:srgbClr val="23394F"/>
                </a:solidFill>
                <a:latin typeface="Helvetica Neue"/>
                <a:ea typeface="Helvetica Neue"/>
                <a:cs typeface="Helvetica Neue"/>
              </a:rPr>
              <a:t>Объясняешь, для кого создан проект и какую задачу он решает.</a:t>
            </a:r>
          </a:p>
        </p:txBody>
      </p:sp>
      <p:sp>
        <p:nvSpPr>
          <p:cNvPr id="5" name="step-2">
            <a:extLst xmlns:a="http://schemas.openxmlformats.org/drawingml/2006/main">
              <a:ext uri="{FF2B5EF4-FFF2-40B4-BE49-F238E27FC236}">
                <a16:creationId xmlns:a16="http://schemas.microsoft.com/office/drawing/2014/main" id="{124DF779-7C46-46FD-AC36-3D0C6B310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8384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D83"/>
          </a:solidFill>
          <a:ln xmlns:a="http://schemas.openxmlformats.org/drawingml/2006/main" w="19050">
            <a:solidFill>
              <a:srgbClr val="167D83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4BCF14-E734-4AB8-A766-F004329E0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876550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 i="0">
                <a:solidFill>
                  <a:srgbClr val="2339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 i="0">
                <a:solidFill>
                  <a:srgbClr val="23394F"/>
                </a:solidFill>
                <a:latin typeface="Helvetica Neue"/>
                <a:ea typeface="Helvetica Neue"/>
                <a:cs typeface="Helvetica Neue"/>
              </a:rPr>
              <a:t>Показываешь MVP и сверяешь работу с принятыми критериями.</a:t>
            </a:r>
          </a:p>
        </p:txBody>
      </p:sp>
      <p:sp>
        <p:nvSpPr>
          <p:cNvPr id="7" name="step-3">
            <a:extLst xmlns:a="http://schemas.openxmlformats.org/drawingml/2006/main">
              <a:ext uri="{FF2B5EF4-FFF2-40B4-BE49-F238E27FC236}">
                <a16:creationId xmlns:a16="http://schemas.microsoft.com/office/drawing/2014/main" id="{40453F25-BB76-4FCD-B98A-A474FFB89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6385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362"/>
          </a:solidFill>
          <a:ln xmlns:a="http://schemas.openxmlformats.org/drawingml/2006/main" w="19050">
            <a:solidFill>
              <a:srgbClr val="E87362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EC9A61-85BC-42AB-95EA-F3CBCFC8E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676650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 i="0">
                <a:solidFill>
                  <a:srgbClr val="2339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 i="0">
                <a:solidFill>
                  <a:srgbClr val="23394F"/>
                </a:solidFill>
                <a:latin typeface="Helvetica Neue"/>
                <a:ea typeface="Helvetica Neue"/>
                <a:cs typeface="Helvetica Neue"/>
              </a:rPr>
              <a:t>Находишь причину контролируемого сбоя по логам.</a:t>
            </a:r>
          </a:p>
        </p:txBody>
      </p:sp>
      <p:sp>
        <p:nvSpPr>
          <p:cNvPr id="9" name="step-4">
            <a:extLst xmlns:a="http://schemas.openxmlformats.org/drawingml/2006/main">
              <a:ext uri="{FF2B5EF4-FFF2-40B4-BE49-F238E27FC236}">
                <a16:creationId xmlns:a16="http://schemas.microsoft.com/office/drawing/2014/main" id="{70056A88-9A5B-48AB-9943-3C88BD3CA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4386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B43"/>
          </a:solidFill>
          <a:ln xmlns:a="http://schemas.openxmlformats.org/drawingml/2006/main" w="19050">
            <a:solidFill>
              <a:srgbClr val="172B43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17DBDB-CFF5-4AEC-ACF3-1F17FD57A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476750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 i="0">
                <a:solidFill>
                  <a:srgbClr val="2339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 i="0">
                <a:solidFill>
                  <a:srgbClr val="23394F"/>
                </a:solidFill>
                <a:latin typeface="Helvetica Neue"/>
                <a:ea typeface="Helvetica Neue"/>
                <a:cs typeface="Helvetica Neue"/>
              </a:rPr>
              <a:t>Оставляешь документы, чтобы другой человек понял ограничения и следующий шаг.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30E57A-9080-4A1E-AFB3-D2017A482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86375"/>
            <a:ext cx="107727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6D2C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AB0DBB-B14C-4B9B-9967-ACC3B0E55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62600"/>
            <a:ext cx="10744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167D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167D83"/>
                </a:solidFill>
                <a:latin typeface="Helvetica Neue"/>
                <a:ea typeface="Helvetica Neue"/>
                <a:cs typeface="Helvetica Neue"/>
              </a:rPr>
              <a:t>Если застрял, выбери помощь: «дай подсказку» · «разбей на шаги» · «покажи пример» · «давай вместе».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C34237-B0DA-4B12-9473-13DC11E9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29350"/>
            <a:ext cx="10744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5268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i="0">
                <a:solidFill>
                  <a:srgbClr val="52687A"/>
                </a:solidFill>
                <a:latin typeface="Helvetica Neue"/>
                <a:ea typeface="Helvetica Neue"/>
                <a:cs typeface="Helvetica Neue"/>
              </a:rPr>
              <a:t>Ты учишься объяснять решения и проверять работу самостоятельно.</a:t>
            </a:r>
          </a:p>
        </p:txBody>
      </p:sp>
    </p:spTree>
    <p:extLst>
      <p:ext uri="{BB962C8B-B14F-4D97-AF65-F5344CB8AC3E}">
        <p14:creationId xmlns:p14="http://schemas.microsoft.com/office/powerpoint/2010/main" val="20898321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2026-10-11T11:08:23.3490000Z</dcterms:created>
  <dcterms:modified xsi:type="dcterms:W3CDTF">2026-10-11T11:08:23.3490000Z</dcterms:modified>
</coreProperties>
</file>